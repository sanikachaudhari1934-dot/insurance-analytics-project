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4"/>
  </p:sldMasterIdLst>
  <p:notesMasterIdLst>
    <p:notesMasterId r:id="rId21"/>
  </p:notesMasterIdLst>
  <p:sldIdLst>
    <p:sldId id="284" r:id="rId5"/>
    <p:sldId id="303" r:id="rId6"/>
    <p:sldId id="297" r:id="rId7"/>
    <p:sldId id="286" r:id="rId8"/>
    <p:sldId id="287" r:id="rId9"/>
    <p:sldId id="296" r:id="rId10"/>
    <p:sldId id="285" r:id="rId11"/>
    <p:sldId id="299" r:id="rId12"/>
    <p:sldId id="261" r:id="rId13"/>
    <p:sldId id="262" r:id="rId14"/>
    <p:sldId id="300" r:id="rId15"/>
    <p:sldId id="301" r:id="rId16"/>
    <p:sldId id="302" r:id="rId17"/>
    <p:sldId id="298" r:id="rId18"/>
    <p:sldId id="288" r:id="rId19"/>
    <p:sldId id="2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3314645-87FE-4860-A568-4802878389A1}">
          <p14:sldIdLst>
            <p14:sldId id="284"/>
            <p14:sldId id="303"/>
            <p14:sldId id="297"/>
            <p14:sldId id="286"/>
            <p14:sldId id="287"/>
            <p14:sldId id="296"/>
            <p14:sldId id="285"/>
            <p14:sldId id="299"/>
            <p14:sldId id="261"/>
            <p14:sldId id="262"/>
            <p14:sldId id="300"/>
            <p14:sldId id="301"/>
            <p14:sldId id="302"/>
            <p14:sldId id="298"/>
            <p14:sldId id="288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ECC4BF"/>
    <a:srgbClr val="E9C46A"/>
    <a:srgbClr val="97EFD3"/>
    <a:srgbClr val="F15574"/>
    <a:srgbClr val="F4EBE8"/>
    <a:srgbClr val="C9A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99" autoAdjust="0"/>
  </p:normalViewPr>
  <p:slideViewPr>
    <p:cSldViewPr snapToGrid="0" snapToObjects="1" showGuides="1">
      <p:cViewPr>
        <p:scale>
          <a:sx n="66" d="100"/>
          <a:sy n="66" d="100"/>
        </p:scale>
        <p:origin x="668" y="-116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ddbcebd80138d4/Desktop/DATA%20ANALYST/Project/Insurance%20Analytics_Excel%20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d.docs.live.net/0dddbcebd80138d4/Desktop/DATA%20ANALYST/Project/Insurance%20Analytics_Excel%20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[Insurance Analytics_Excel Dashboard.xlsx]NN+EN+EE Indi bdgt -20012020!PivotTable1</c:name>
    <c:fmtId val="6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dirty="0">
                <a:latin typeface="Arial Black" panose="020B0A04020102020204" pitchFamily="34" charset="0"/>
              </a:rPr>
              <a:t>Cross-sell</a:t>
            </a:r>
            <a:r>
              <a:rPr lang="en-IN" dirty="0">
                <a:latin typeface="Arial Black" panose="020B0A04020102020204" pitchFamily="34" charset="0"/>
              </a:rPr>
              <a:t> </a:t>
            </a:r>
          </a:p>
          <a:p>
            <a:pPr>
              <a:defRPr/>
            </a:pPr>
            <a:endParaRPr lang="en-IN" dirty="0">
              <a:latin typeface="Arial Black" panose="020B0A040201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103966909587088"/>
          <c:y val="0.34279538376485125"/>
          <c:w val="0.59052085467754134"/>
          <c:h val="0.5552780943326642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'NN+EN+EE Indi bdgt -20012020'!$Q$48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'NN+EN+EE Indi bdgt -20012020'!$P$49:$P$52</c:f>
              <c:strCache>
                <c:ptCount val="3"/>
                <c:pt idx="0">
                  <c:v>Target</c:v>
                </c:pt>
                <c:pt idx="1">
                  <c:v>invoice</c:v>
                </c:pt>
                <c:pt idx="2">
                  <c:v>Achieved</c:v>
                </c:pt>
              </c:strCache>
            </c:strRef>
          </c:cat>
          <c:val>
            <c:numRef>
              <c:f>'NN+EN+EE Indi bdgt -20012020'!$Q$49:$Q$52</c:f>
              <c:numCache>
                <c:formatCode>0.00,,"M"</c:formatCode>
                <c:ptCount val="3"/>
                <c:pt idx="0">
                  <c:v>7290000</c:v>
                </c:pt>
                <c:pt idx="1">
                  <c:v>2853842</c:v>
                </c:pt>
                <c:pt idx="2">
                  <c:v>13041253.300000001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0-4C02-9A26-BA62B034726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181481583"/>
        <c:axId val="83278495"/>
      </c:barChart>
      <c:catAx>
        <c:axId val="181481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278495"/>
        <c:crosses val="autoZero"/>
        <c:auto val="1"/>
        <c:lblAlgn val="ctr"/>
        <c:lblOffset val="100"/>
        <c:noMultiLvlLbl val="0"/>
      </c:catAx>
      <c:valAx>
        <c:axId val="8327849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81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38100" cap="flat" cmpd="sng" algn="ctr">
      <a:gradFill flip="none" rotWithShape="1">
        <a:gsLst>
          <a:gs pos="0">
            <a:schemeClr val="accent5">
              <a:lumMod val="5000"/>
              <a:lumOff val="95000"/>
            </a:schemeClr>
          </a:gs>
          <a:gs pos="74000">
            <a:schemeClr val="accent5">
              <a:lumMod val="45000"/>
              <a:lumOff val="55000"/>
            </a:schemeClr>
          </a:gs>
          <a:gs pos="83000">
            <a:schemeClr val="accent5">
              <a:lumMod val="45000"/>
              <a:lumOff val="55000"/>
            </a:schemeClr>
          </a:gs>
          <a:gs pos="100000">
            <a:schemeClr val="accent5">
              <a:lumMod val="30000"/>
              <a:lumOff val="70000"/>
            </a:schemeClr>
          </a:gs>
        </a:gsLst>
        <a:lin ang="5400000" scaled="1"/>
        <a:tileRect/>
      </a:gradFill>
      <a:round/>
    </a:ln>
    <a:effectLst>
      <a:outerShdw blurRad="50800" dist="38100" sx="1000" sy="1000" algn="ctr" rotWithShape="0">
        <a:schemeClr val="tx2">
          <a:lumMod val="50000"/>
        </a:scheme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Dashboard.xlsx]NN+EN+EE Indi bdgt -20012020!PivotTable5</c:name>
    <c:fmtId val="4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Arial Black" panose="020B0A04020102020204" pitchFamily="34" charset="0"/>
              </a:rPr>
              <a:t>Renewal Budget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133038966149045"/>
          <c:y val="0.26355811134520479"/>
          <c:w val="0.73556380869336813"/>
          <c:h val="0.6209919478195619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'NN+EN+EE Indi bdgt -20012020'!$N$52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'NN+EN+EE Indi bdgt -20012020'!$M$53:$M$56</c:f>
              <c:strCache>
                <c:ptCount val="3"/>
                <c:pt idx="0">
                  <c:v>Target</c:v>
                </c:pt>
                <c:pt idx="1">
                  <c:v>invoice</c:v>
                </c:pt>
                <c:pt idx="2">
                  <c:v>Achieved</c:v>
                </c:pt>
              </c:strCache>
            </c:strRef>
          </c:cat>
          <c:val>
            <c:numRef>
              <c:f>'NN+EN+EE Indi bdgt -20012020'!$N$53:$N$56</c:f>
              <c:numCache>
                <c:formatCode>0.00,,"M"</c:formatCode>
                <c:ptCount val="3"/>
                <c:pt idx="0">
                  <c:v>9520000</c:v>
                </c:pt>
                <c:pt idx="1">
                  <c:v>8244310</c:v>
                </c:pt>
                <c:pt idx="2">
                  <c:v>18507270.640000019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3A-4F61-948C-1A5A4A0B6C5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275250207"/>
        <c:axId val="90189535"/>
      </c:barChart>
      <c:catAx>
        <c:axId val="2752502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189535"/>
        <c:crosses val="autoZero"/>
        <c:auto val="1"/>
        <c:lblAlgn val="ctr"/>
        <c:lblOffset val="100"/>
        <c:noMultiLvlLbl val="0"/>
      </c:catAx>
      <c:valAx>
        <c:axId val="90189535"/>
        <c:scaling>
          <c:orientation val="minMax"/>
        </c:scaling>
        <c:delete val="0"/>
        <c:axPos val="b"/>
        <c:numFmt formatCode="0.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250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>
      <a:glow rad="63500">
        <a:schemeClr val="accent1">
          <a:satMod val="175000"/>
          <a:alpha val="40000"/>
        </a:schemeClr>
      </a:glow>
      <a:outerShdw blurRad="825500" dist="12700" dir="12420000" sx="101000" sy="101000" algn="ctr" rotWithShape="0">
        <a:srgbClr val="000000"/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Dashboard.xlsx]NN+EN+EE Indi bdgt -20012020!PivotTable4</c:name>
    <c:fmtId val="4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400">
                <a:latin typeface="Arial Black" panose="020B0A04020102020204" pitchFamily="34" charset="0"/>
              </a:rPr>
              <a:t>NEW Budget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1"/>
              </a:solidFill>
              <a:latin typeface="Arial Black" panose="020B0A040201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'NN+EN+EE Indi bdgt -20012020'!$K$51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1"/>
              <c:layout>
                <c:manualLayout>
                  <c:x val="0.11594266660254904"/>
                  <c:y val="-8.333333333333333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227392327649038"/>
                      <c:h val="0.116958661417322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813-43E3-83BE-550414C494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'NN+EN+EE Indi bdgt -20012020'!$J$52:$J$55</c:f>
              <c:strCache>
                <c:ptCount val="3"/>
                <c:pt idx="0">
                  <c:v>Target</c:v>
                </c:pt>
                <c:pt idx="1">
                  <c:v>invoice</c:v>
                </c:pt>
                <c:pt idx="2">
                  <c:v>Achieved</c:v>
                </c:pt>
              </c:strCache>
            </c:strRef>
          </c:cat>
          <c:val>
            <c:numRef>
              <c:f>'NN+EN+EE Indi bdgt -20012020'!$K$52:$K$55</c:f>
              <c:numCache>
                <c:formatCode>0.0,,"M"</c:formatCode>
                <c:ptCount val="3"/>
                <c:pt idx="0">
                  <c:v>4100000</c:v>
                </c:pt>
                <c:pt idx="1">
                  <c:v>569815</c:v>
                </c:pt>
                <c:pt idx="2">
                  <c:v>3531629.3099999982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3-43E3-83BE-550414C494C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181507023"/>
        <c:axId val="274121519"/>
      </c:barChart>
      <c:catAx>
        <c:axId val="181507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121519"/>
        <c:crosses val="autoZero"/>
        <c:auto val="1"/>
        <c:lblAlgn val="ctr"/>
        <c:lblOffset val="100"/>
        <c:noMultiLvlLbl val="0"/>
      </c:catAx>
      <c:valAx>
        <c:axId val="274121519"/>
        <c:scaling>
          <c:orientation val="minMax"/>
        </c:scaling>
        <c:delete val="0"/>
        <c:axPos val="b"/>
        <c:numFmt formatCode="0.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07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>
      <a:glow rad="127000">
        <a:schemeClr val="bg2">
          <a:lumMod val="50000"/>
        </a:schemeClr>
      </a:glow>
      <a:outerShdw blurRad="685800" dist="50800" dir="7500000" algn="ctr" rotWithShape="0">
        <a:srgbClr val="000000">
          <a:alpha val="43137"/>
        </a:srgb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Dashboard.xlsx]invoice_202001231041!PivotTable3</c:name>
    <c:fmtId val="15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latin typeface="Arial Black" panose="020B0A04020102020204" pitchFamily="34" charset="0"/>
              </a:rPr>
              <a:t>No.of</a:t>
            </a:r>
            <a:r>
              <a:rPr lang="en-US" dirty="0">
                <a:latin typeface="Arial Black" panose="020B0A04020102020204" pitchFamily="34" charset="0"/>
              </a:rPr>
              <a:t> Invoice by Account Executive</a:t>
            </a:r>
          </a:p>
        </c:rich>
      </c:tx>
      <c:layout>
        <c:manualLayout>
          <c:xMode val="edge"/>
          <c:yMode val="edge"/>
          <c:x val="0.14259742312860646"/>
          <c:y val="6.38864840352070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>
          <a:outerShdw blurRad="50800" dist="50800" dir="5400000" algn="ctr" rotWithShape="0">
            <a:srgbClr val="000000">
              <a:alpha val="64000"/>
            </a:srgbClr>
          </a:outerShdw>
        </a:effectLst>
        <a:sp3d/>
      </c:spPr>
    </c:sideWall>
    <c:backWall>
      <c:thickness val="0"/>
      <c:spPr>
        <a:noFill/>
        <a:ln>
          <a:noFill/>
        </a:ln>
        <a:effectLst>
          <a:outerShdw blurRad="50800" dist="50800" dir="5400000" algn="ctr" rotWithShape="0">
            <a:srgbClr val="000000">
              <a:alpha val="64000"/>
            </a:srgbClr>
          </a:outerShdw>
        </a:effectLst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invoice_202001231041!$P$3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invoice_202001231041!$O$4:$O$12</c:f>
              <c:strCache>
                <c:ptCount val="8"/>
                <c:pt idx="0">
                  <c:v>Ankita Shah</c:v>
                </c:pt>
                <c:pt idx="1">
                  <c:v>Divya Dhingra</c:v>
                </c:pt>
                <c:pt idx="2">
                  <c:v>Gautam Murkunde</c:v>
                </c:pt>
                <c:pt idx="3">
                  <c:v>Neel Jain</c:v>
                </c:pt>
                <c:pt idx="4">
                  <c:v>Nishant Sharma</c:v>
                </c:pt>
                <c:pt idx="5">
                  <c:v>Shloka Shelat</c:v>
                </c:pt>
                <c:pt idx="6">
                  <c:v>Shobhit Agarwal</c:v>
                </c:pt>
                <c:pt idx="7">
                  <c:v>Vidit Shah</c:v>
                </c:pt>
              </c:strCache>
            </c:strRef>
          </c:cat>
          <c:val>
            <c:numRef>
              <c:f>invoice_202001231041!$P$4:$P$12</c:f>
              <c:numCache>
                <c:formatCode>General</c:formatCode>
                <c:ptCount val="8"/>
                <c:pt idx="0">
                  <c:v>36</c:v>
                </c:pt>
                <c:pt idx="1">
                  <c:v>82</c:v>
                </c:pt>
                <c:pt idx="2">
                  <c:v>4</c:v>
                </c:pt>
                <c:pt idx="3">
                  <c:v>1</c:v>
                </c:pt>
                <c:pt idx="4">
                  <c:v>10</c:v>
                </c:pt>
                <c:pt idx="5">
                  <c:v>30</c:v>
                </c:pt>
                <c:pt idx="6">
                  <c:v>14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C8-4C33-B20C-C5F420A10D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36883567"/>
        <c:axId val="1207827823"/>
        <c:axId val="0"/>
      </c:bar3DChart>
      <c:catAx>
        <c:axId val="1036883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827823"/>
        <c:crosses val="autoZero"/>
        <c:auto val="1"/>
        <c:lblAlgn val="ctr"/>
        <c:lblOffset val="100"/>
        <c:noMultiLvlLbl val="0"/>
      </c:catAx>
      <c:valAx>
        <c:axId val="1207827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883567"/>
        <c:crosses val="autoZero"/>
        <c:crossBetween val="between"/>
      </c:valAx>
      <c:spPr>
        <a:noFill/>
        <a:ln>
          <a:noFill/>
        </a:ln>
        <a:effectLst>
          <a:glow rad="673100">
            <a:schemeClr val="bg2">
              <a:lumMod val="50000"/>
              <a:alpha val="40000"/>
            </a:schemeClr>
          </a:glow>
          <a:outerShdw blurRad="622300" dist="520700" dir="4800000" sx="97000" sy="97000" algn="ctr" rotWithShape="0">
            <a:srgbClr val="000000">
              <a:alpha val="77000"/>
            </a:srgbClr>
          </a:outerShdw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>
      <a:glow>
        <a:srgbClr val="282828"/>
      </a:glow>
      <a:outerShdw blurRad="63500" sx="1000" sy="1000" algn="ctr" rotWithShape="0">
        <a:srgbClr val="C6DEF6"/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Dashboard.xlsx]meeting_list_202001231041!PivotTable2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dirty="0">
                <a:latin typeface="Arial Black" panose="020B0A04020102020204" pitchFamily="34" charset="0"/>
              </a:rPr>
              <a:t>Yearly Meeting Count</a:t>
            </a:r>
          </a:p>
        </c:rich>
      </c:tx>
      <c:layout>
        <c:manualLayout>
          <c:xMode val="edge"/>
          <c:yMode val="edge"/>
          <c:x val="0.14625592174134189"/>
          <c:y val="4.9940196473009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2.5153726721774395E-2"/>
          <c:y val="0.27735805594424934"/>
          <c:w val="0.70615873784109007"/>
          <c:h val="0.68837618408267764"/>
        </c:manualLayout>
      </c:layout>
      <c:doughnutChart>
        <c:varyColors val="1"/>
        <c:ser>
          <c:idx val="0"/>
          <c:order val="0"/>
          <c:tx>
            <c:strRef>
              <c:f>meeting_list_202001231041!$K$3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254-412B-8CC1-F5271C86667A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254-412B-8CC1-F5271C86667A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meeting_list_202001231041!$J$4:$J$6</c:f>
              <c:strCache>
                <c:ptCount val="2"/>
                <c:pt idx="0">
                  <c:v>2019</c:v>
                </c:pt>
                <c:pt idx="1">
                  <c:v>2020</c:v>
                </c:pt>
              </c:strCache>
            </c:strRef>
          </c:cat>
          <c:val>
            <c:numRef>
              <c:f>meeting_list_202001231041!$K$4:$K$6</c:f>
              <c:numCache>
                <c:formatCode>General</c:formatCode>
                <c:ptCount val="2"/>
                <c:pt idx="0">
                  <c:v>3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54-412B-8CC1-F5271C8666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>
      <a:glow rad="127000">
        <a:schemeClr val="bg2">
          <a:lumMod val="50000"/>
        </a:schemeClr>
      </a:glow>
      <a:outerShdw blurRad="50800" dist="1473200" dir="5400000" algn="ctr" rotWithShape="0">
        <a:srgbClr val="000000">
          <a:alpha val="43137"/>
        </a:srgb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Dashboard.xlsx]meeting_list_202001231041!PivotTable1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atin typeface="Arial Black" panose="020B0A04020102020204" pitchFamily="34" charset="0"/>
              </a:rPr>
              <a:t>No. of Meeting by Account Executive</a:t>
            </a:r>
          </a:p>
          <a:p>
            <a:pPr algn="ctr" rtl="0">
              <a:defRPr/>
            </a:pPr>
            <a:endParaRPr lang="en-US"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1672666246790095"/>
          <c:y val="6.96510139226924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meeting_list_202001231041!$N$13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meeting_list_202001231041!$M$14:$M$23</c:f>
              <c:strCache>
                <c:ptCount val="9"/>
                <c:pt idx="0">
                  <c:v>Abhinav Shivam</c:v>
                </c:pt>
                <c:pt idx="1">
                  <c:v>Animesh Rawat</c:v>
                </c:pt>
                <c:pt idx="2">
                  <c:v>Juli</c:v>
                </c:pt>
                <c:pt idx="3">
                  <c:v>Ketan Jain</c:v>
                </c:pt>
                <c:pt idx="4">
                  <c:v>Manish Sharma</c:v>
                </c:pt>
                <c:pt idx="5">
                  <c:v>Mark</c:v>
                </c:pt>
                <c:pt idx="6">
                  <c:v>Raju Kumar</c:v>
                </c:pt>
                <c:pt idx="7">
                  <c:v>Shivani Sharma</c:v>
                </c:pt>
                <c:pt idx="8">
                  <c:v>Vinay</c:v>
                </c:pt>
              </c:strCache>
            </c:strRef>
          </c:cat>
          <c:val>
            <c:numRef>
              <c:f>meeting_list_202001231041!$N$14:$N$23</c:f>
              <c:numCache>
                <c:formatCode>General</c:formatCode>
                <c:ptCount val="9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3-4B5A-93F2-A09AD59E2C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83403072"/>
        <c:axId val="1283407872"/>
      </c:barChart>
      <c:catAx>
        <c:axId val="1283403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407872"/>
        <c:crosses val="autoZero"/>
        <c:auto val="1"/>
        <c:lblAlgn val="ctr"/>
        <c:lblOffset val="100"/>
        <c:noMultiLvlLbl val="0"/>
      </c:catAx>
      <c:valAx>
        <c:axId val="1283407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403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glow rad="228600">
        <a:schemeClr val="bg2">
          <a:lumMod val="50000"/>
          <a:alpha val="40000"/>
        </a:schemeClr>
      </a:glow>
      <a:outerShdw blurRad="50800" dist="50800" dir="5400000" algn="ctr" rotWithShape="0">
        <a:srgbClr val="000000">
          <a:alpha val="79000"/>
        </a:srgbClr>
      </a:outerShdw>
    </a:effectLst>
  </c:spPr>
  <c:txPr>
    <a:bodyPr/>
    <a:lstStyle/>
    <a:p>
      <a:pPr>
        <a:defRPr baseline="0"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 Analytics_Excel Dashboard.xlsx]gcrm_opportunity_202001231041!PivotTable4</c:name>
    <c:fmtId val="6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400" b="0" i="0" u="none" strike="noStrike" kern="1200" baseline="0" dirty="0">
                <a:solidFill>
                  <a:schemeClr val="bg1"/>
                </a:solidFill>
                <a:latin typeface="Arial Black" panose="020B0A04020102020204" pitchFamily="34" charset="0"/>
              </a:rPr>
              <a:t>Opportunity</a:t>
            </a:r>
            <a:r>
              <a:rPr lang="en-US" sz="1400" b="0" baseline="0" dirty="0">
                <a:solidFill>
                  <a:schemeClr val="bg1"/>
                </a:solidFill>
                <a:latin typeface="Arial Black" panose="020B0A04020102020204" pitchFamily="34" charset="0"/>
              </a:rPr>
              <a:t> By Revenue Top 8</a:t>
            </a:r>
            <a:endParaRPr lang="en-US" sz="1400" b="0" dirty="0">
              <a:solidFill>
                <a:schemeClr val="bg1"/>
              </a:solidFill>
              <a:latin typeface="Arial Black" panose="020B0A040201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Arial Black" panose="020B0A040201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7517370456066417E-2"/>
          <c:y val="0.23840744146458237"/>
          <c:w val="0.95248262954393359"/>
          <c:h val="0.642766230706680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gcrm_opportunity_202001231041!$Z$112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gcrm_opportunity_202001231041!$Y$113:$Y$121</c:f>
              <c:strCache>
                <c:ptCount val="8"/>
                <c:pt idx="0">
                  <c:v>BE-Mega policy</c:v>
                </c:pt>
                <c:pt idx="1">
                  <c:v>CVP GMC</c:v>
                </c:pt>
                <c:pt idx="2">
                  <c:v>DB -Mega Policy</c:v>
                </c:pt>
                <c:pt idx="3">
                  <c:v>DB -Terrorism Policy</c:v>
                </c:pt>
                <c:pt idx="4">
                  <c:v>DS- Employees GMC</c:v>
                </c:pt>
                <c:pt idx="5">
                  <c:v>EL-Group Mediclaim</c:v>
                </c:pt>
                <c:pt idx="6">
                  <c:v>Fire</c:v>
                </c:pt>
                <c:pt idx="7">
                  <c:v>FM-Group Mediclaim</c:v>
                </c:pt>
              </c:strCache>
            </c:strRef>
          </c:cat>
          <c:val>
            <c:numRef>
              <c:f>gcrm_opportunity_202001231041!$Z$113:$Z$121</c:f>
              <c:numCache>
                <c:formatCode>General</c:formatCode>
                <c:ptCount val="8"/>
                <c:pt idx="0">
                  <c:v>300000</c:v>
                </c:pt>
                <c:pt idx="1">
                  <c:v>350000</c:v>
                </c:pt>
                <c:pt idx="2">
                  <c:v>400000</c:v>
                </c:pt>
                <c:pt idx="3">
                  <c:v>300000</c:v>
                </c:pt>
                <c:pt idx="4">
                  <c:v>300000</c:v>
                </c:pt>
                <c:pt idx="5">
                  <c:v>400000</c:v>
                </c:pt>
                <c:pt idx="6">
                  <c:v>500000</c:v>
                </c:pt>
                <c:pt idx="7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F0-496D-B97D-78302032C9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79534448"/>
        <c:axId val="433980064"/>
      </c:barChart>
      <c:catAx>
        <c:axId val="279534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3980064"/>
        <c:crosses val="autoZero"/>
        <c:auto val="1"/>
        <c:lblAlgn val="ctr"/>
        <c:lblOffset val="100"/>
        <c:noMultiLvlLbl val="0"/>
      </c:catAx>
      <c:valAx>
        <c:axId val="4339800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53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>
      <a:glow rad="127000">
        <a:schemeClr val="bg2">
          <a:lumMod val="50000"/>
        </a:schemeClr>
      </a:glow>
      <a:outerShdw blurRad="304800" dist="241300" dir="3600000" algn="ctr" rotWithShape="0">
        <a:srgbClr val="000000">
          <a:alpha val="43137"/>
        </a:srgb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'[Insurance Analytics_Excel Dashboard.xlsx]gcrm_opportunity_202001231041'!$N$15:$N$17</cx:f>
        <cx:lvl ptCount="3">
          <cx:pt idx="0">Qualify Opportunity</cx:pt>
          <cx:pt idx="1">Negotiate</cx:pt>
          <cx:pt idx="2">Propose Solution</cx:pt>
        </cx:lvl>
      </cx:strDim>
      <cx:numDim type="val">
        <cx:f>'[Insurance Analytics_Excel Dashboard.xlsx]gcrm_opportunity_202001231041'!$O$15:$O$17</cx:f>
        <cx:lvl ptCount="3" formatCode="0.00,,&quot;M&quot;">
          <cx:pt idx="0">5919500</cx:pt>
          <cx:pt idx="1">899000</cx:pt>
          <cx:pt idx="2">60000</cx:pt>
        </cx:lvl>
      </cx:numDim>
    </cx:data>
  </cx:chartData>
  <cx:chart>
    <cx:title pos="t" align="ctr" overlay="0">
      <cx:tx>
        <cx:txData>
          <cx:v>Stagged Funnel Chart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bg1"/>
              </a:solidFill>
            </a:defRPr>
          </a:pPr>
          <a:r>
            <a:rPr lang="en-US" sz="1400" b="1" i="0" u="none" strike="noStrike" baseline="0">
              <a:solidFill>
                <a:schemeClr val="bg1"/>
              </a:solidFill>
              <a:latin typeface="Arial Black" panose="020B0A04020102020204" pitchFamily="34" charset="0"/>
            </a:rPr>
            <a:t>Stagged Funnel Chart </a:t>
          </a:r>
        </a:p>
      </cx:txPr>
    </cx:title>
    <cx:plotArea>
      <cx:plotAreaRegion>
        <cx:plotSurface>
          <cx:spPr>
            <a:solidFill>
              <a:schemeClr val="accent1">
                <a:lumMod val="75000"/>
              </a:schemeClr>
            </a:solidFill>
          </cx:spPr>
        </cx:plotSurface>
        <cx:series layoutId="funnel" uniqueId="{4471E2E7-16DA-40D3-B3C1-F91F45AFA4D0}" formatIdx="0"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IN">
                  <a:solidFill>
                    <a:schemeClr val="bg1"/>
                  </a:solidFill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150000006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IN">
              <a:solidFill>
                <a:schemeClr val="bg1"/>
              </a:solidFill>
            </a:endParaRPr>
          </a:p>
        </cx:txPr>
      </cx:axis>
    </cx:plotArea>
  </cx:chart>
  <cx:spPr>
    <a:solidFill>
      <a:schemeClr val="accent1">
        <a:lumMod val="75000"/>
      </a:schemeClr>
    </a:solidFill>
    <a:effectLst>
      <a:glow rad="228600">
        <a:schemeClr val="bg2">
          <a:lumMod val="50000"/>
          <a:alpha val="40000"/>
        </a:schemeClr>
      </a:glow>
      <a:outerShdw blurRad="520700" dist="114300" dir="5400000" algn="ctr" rotWithShape="0">
        <a:srgbClr val="000000">
          <a:alpha val="43137"/>
        </a:srgbClr>
      </a:outerShdw>
    </a:effectLst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2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dk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9:42:11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03448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5319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1096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2284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0819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267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4749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0766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60427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3640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5352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829514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9134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9550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5907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6435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70373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54321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602456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182233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790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2544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24990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Relationship Id="rId30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9DCACB-CB7B-205B-362F-2709A5A35C54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1CEC15-61A3-9E12-A3F6-D85DADA899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364174-E047-A643-4D47-6F4137D3CCA5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23A876-37B4-EA74-E451-CF88CD765AE6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730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660" r:id="rId24"/>
    <p:sldLayoutId id="2147483669" r:id="rId25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hart" Target="../charts/chart2.xml"/><Relationship Id="rId7" Type="http://schemas.microsoft.com/office/2014/relationships/chartEx" Target="../charts/chartEx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10" Type="http://schemas.openxmlformats.org/officeDocument/2006/relationships/chart" Target="../charts/chart7.xml"/><Relationship Id="rId4" Type="http://schemas.openxmlformats.org/officeDocument/2006/relationships/chart" Target="../charts/chart3.xml"/><Relationship Id="rId9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171" y="1349829"/>
            <a:ext cx="6564086" cy="816428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ANALYTICS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 P1075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441370"/>
            <a:ext cx="2107474" cy="38927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Mentor​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 descr="Insurance Sector Reform in the Digital Age - Outlook Money">
            <a:extLst>
              <a:ext uri="{FF2B5EF4-FFF2-40B4-BE49-F238E27FC236}">
                <a16:creationId xmlns:a16="http://schemas.microsoft.com/office/drawing/2014/main" id="{DF4FBC62-C01A-555C-A06B-3E345D7C04D9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3" r="24053"/>
          <a:stretch>
            <a:fillRect/>
          </a:stretch>
        </p:blipFill>
        <p:spPr bwMode="auto">
          <a:xfrm>
            <a:off x="7246779" y="1035830"/>
            <a:ext cx="3660707" cy="447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CF50F6-563F-031B-7584-599E73D17A30}"/>
              </a:ext>
            </a:extLst>
          </p:cNvPr>
          <p:cNvSpPr/>
          <p:nvPr/>
        </p:nvSpPr>
        <p:spPr>
          <a:xfrm>
            <a:off x="7770656" y="3566050"/>
            <a:ext cx="2981601" cy="863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Mr.Kottu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Jithendra 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D5D7F7-490D-1139-22E2-5DCE42459DBD}"/>
              </a:ext>
            </a:extLst>
          </p:cNvPr>
          <p:cNvSpPr/>
          <p:nvPr/>
        </p:nvSpPr>
        <p:spPr>
          <a:xfrm>
            <a:off x="5067300" y="3566050"/>
            <a:ext cx="2632599" cy="88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Ms.Shaik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Saleha begum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3ADCFC-C3E7-9436-EFBF-B61856663397}"/>
              </a:ext>
            </a:extLst>
          </p:cNvPr>
          <p:cNvSpPr/>
          <p:nvPr/>
        </p:nvSpPr>
        <p:spPr>
          <a:xfrm>
            <a:off x="5067300" y="4634318"/>
            <a:ext cx="2703356" cy="889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Mr.Velakanti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Ajaykumar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D06373-8D47-36CC-C33A-45BEF90F457A}"/>
              </a:ext>
            </a:extLst>
          </p:cNvPr>
          <p:cNvSpPr/>
          <p:nvPr/>
        </p:nvSpPr>
        <p:spPr>
          <a:xfrm>
            <a:off x="1736056" y="2368729"/>
            <a:ext cx="3125943" cy="1050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Ms.Sinchana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0FC942-3E28-C0C7-DC78-4AA4B7C5B271}"/>
              </a:ext>
            </a:extLst>
          </p:cNvPr>
          <p:cNvSpPr/>
          <p:nvPr/>
        </p:nvSpPr>
        <p:spPr>
          <a:xfrm>
            <a:off x="4996543" y="2350552"/>
            <a:ext cx="2514600" cy="106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Bhavani Kudthe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F0FCC6-6E34-FB65-601B-2BE1253E3E05}"/>
              </a:ext>
            </a:extLst>
          </p:cNvPr>
          <p:cNvSpPr/>
          <p:nvPr/>
        </p:nvSpPr>
        <p:spPr>
          <a:xfrm>
            <a:off x="7626314" y="2378199"/>
            <a:ext cx="3125943" cy="1050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Mr.Sahil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Rajendra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Mandare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E3EDDA-F990-5C4A-79BE-F5D8172E3836}"/>
              </a:ext>
            </a:extLst>
          </p:cNvPr>
          <p:cNvSpPr/>
          <p:nvPr/>
        </p:nvSpPr>
        <p:spPr>
          <a:xfrm>
            <a:off x="1678142" y="3566050"/>
            <a:ext cx="3318401" cy="951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Ms.Sanika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Sainath Chaudhari</a:t>
            </a:r>
            <a:endParaRPr lang="en-IN" dirty="0"/>
          </a:p>
        </p:txBody>
      </p:sp>
      <p:sp>
        <p:nvSpPr>
          <p:cNvPr id="30" name="Title 22">
            <a:extLst>
              <a:ext uri="{FF2B5EF4-FFF2-40B4-BE49-F238E27FC236}">
                <a16:creationId xmlns:a16="http://schemas.microsoft.com/office/drawing/2014/main" id="{5349AC88-D096-A9DA-4331-35E191236954}"/>
              </a:ext>
            </a:extLst>
          </p:cNvPr>
          <p:cNvSpPr txBox="1">
            <a:spLocks/>
          </p:cNvSpPr>
          <p:nvPr/>
        </p:nvSpPr>
        <p:spPr>
          <a:xfrm>
            <a:off x="936171" y="1152579"/>
            <a:ext cx="10069286" cy="7850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Our Teammates</a:t>
            </a:r>
          </a:p>
        </p:txBody>
      </p:sp>
    </p:spTree>
    <p:extLst>
      <p:ext uri="{BB962C8B-B14F-4D97-AF65-F5344CB8AC3E}">
        <p14:creationId xmlns:p14="http://schemas.microsoft.com/office/powerpoint/2010/main" val="297972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6DC590-5434-9D3F-42F5-673CB2D8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420624"/>
            <a:ext cx="6096000" cy="124851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Performance Review – Ahmedabad Branch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296F4D-E0DB-FB2F-D035-65021F0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4" y="2198913"/>
            <a:ext cx="5333999" cy="3472543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 Insurance Analytics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Modules Used: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1.MS Excel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2.Power BI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3.MySQL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4.Tableau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663A985-28AC-0A77-B788-21C7E16F5D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7236" r="17236"/>
          <a:stretch>
            <a:fillRect/>
          </a:stretch>
        </p:blipFill>
        <p:spPr>
          <a:xfrm>
            <a:off x="5306568" y="420624"/>
            <a:ext cx="5897880" cy="5897880"/>
          </a:xfrm>
        </p:spPr>
      </p:pic>
    </p:spTree>
    <p:extLst>
      <p:ext uri="{BB962C8B-B14F-4D97-AF65-F5344CB8AC3E}">
        <p14:creationId xmlns:p14="http://schemas.microsoft.com/office/powerpoint/2010/main" val="141532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Cleaning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Identification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Visualization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370114"/>
            <a:ext cx="9912096" cy="1156934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DM Sans Medium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1" y="1295400"/>
            <a:ext cx="11217511" cy="44631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Account Executives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Ahmedabad branch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 Power BI, MySQL and Tableau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evaluated across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categories, further segmented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New, Cross-Sell, and Renewal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percentages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calculated to measure target vs actual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include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 meeting count, total meetings, policy-wise performance, invoices raised, open opportunities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overall productivity.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enable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performance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improve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effectiveness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79D0-D5BE-BC05-B3B3-05E97433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1947672"/>
            <a:ext cx="4071257" cy="2862072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Placeholder 34" descr="Piggy Bank with solid fill">
            <a:extLst>
              <a:ext uri="{FF2B5EF4-FFF2-40B4-BE49-F238E27FC236}">
                <a16:creationId xmlns:a16="http://schemas.microsoft.com/office/drawing/2014/main" id="{56771091-3DBA-7DC0-9A1A-981503CA6A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66C0EF-C5A6-69F2-BCD5-6F3E10322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299412"/>
            <a:ext cx="3840480" cy="49611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A2B835-2EB4-13B7-BE89-EDFBC68B96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649224"/>
            <a:ext cx="5268250" cy="46974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detailed information about client policies, including policy type, income generated, and renewal status.</a:t>
            </a:r>
          </a:p>
        </p:txBody>
      </p:sp>
      <p:pic>
        <p:nvPicPr>
          <p:cNvPr id="37" name="Picture Placeholder 36" descr="Money with solid fill">
            <a:extLst>
              <a:ext uri="{FF2B5EF4-FFF2-40B4-BE49-F238E27FC236}">
                <a16:creationId xmlns:a16="http://schemas.microsoft.com/office/drawing/2014/main" id="{31E9EE4E-412A-022B-C27E-1D8EBD4D15B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268DA4-D5BC-38AA-54EB-D10668305C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600200"/>
            <a:ext cx="3840480" cy="33832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8351D-2881-C0EE-6D6D-424E1230A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1807408"/>
            <a:ext cx="5690616" cy="60086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data related to client income transactions, covering revenue details, transaction amounts, and types.</a:t>
            </a:r>
          </a:p>
        </p:txBody>
      </p:sp>
      <p:pic>
        <p:nvPicPr>
          <p:cNvPr id="39" name="Picture Placeholder 38" descr="Bank with solid fill">
            <a:extLst>
              <a:ext uri="{FF2B5EF4-FFF2-40B4-BE49-F238E27FC236}">
                <a16:creationId xmlns:a16="http://schemas.microsoft.com/office/drawing/2014/main" id="{B415B0BE-60AE-FA2E-F241-CFC4DDEDB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589FD6-C049-67E3-0386-55C9E18A5B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2904390"/>
            <a:ext cx="3840480" cy="32344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E4BAA-4471-F175-A91F-AF7D4D9694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135086"/>
            <a:ext cx="5573049" cy="73282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budget allocations for branches and employees, covering new business roles, cross-sell targets, and renewal plans.</a:t>
            </a:r>
          </a:p>
        </p:txBody>
      </p:sp>
      <p:pic>
        <p:nvPicPr>
          <p:cNvPr id="41" name="Picture Placeholder 40" descr="Document with solid fill">
            <a:extLst>
              <a:ext uri="{FF2B5EF4-FFF2-40B4-BE49-F238E27FC236}">
                <a16:creationId xmlns:a16="http://schemas.microsoft.com/office/drawing/2014/main" id="{81BE6301-0623-4C2D-5C12-916F84293F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EE4168-3FE3-7D58-F903-91FC215BAE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193694"/>
            <a:ext cx="3840480" cy="4697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C25713-E18A-8B65-C9FA-9A00A9CB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517136"/>
            <a:ext cx="5812536" cy="46974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of all generated invoices, including transaction amounts, invoice types, and linked client information.</a:t>
            </a:r>
          </a:p>
        </p:txBody>
      </p:sp>
      <p:pic>
        <p:nvPicPr>
          <p:cNvPr id="43" name="Picture Placeholder 42" descr="Users with solid fill">
            <a:extLst>
              <a:ext uri="{FF2B5EF4-FFF2-40B4-BE49-F238E27FC236}">
                <a16:creationId xmlns:a16="http://schemas.microsoft.com/office/drawing/2014/main" id="{130A9023-6E4A-7940-680C-69C19FE7F2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99BB05-2464-9628-4AF6-F75298B4B8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482998"/>
            <a:ext cx="3840480" cy="33832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B94B1B-FC15-3A7B-A562-06B6F366B3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675320"/>
            <a:ext cx="5573050" cy="60086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meetings conducted by account executives, capturing branch details, attendees, and meeting type.</a:t>
            </a:r>
          </a:p>
        </p:txBody>
      </p:sp>
    </p:spTree>
    <p:extLst>
      <p:ext uri="{BB962C8B-B14F-4D97-AF65-F5344CB8AC3E}">
        <p14:creationId xmlns:p14="http://schemas.microsoft.com/office/powerpoint/2010/main" val="86653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9238"/>
            <a:ext cx="3354388" cy="69850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Analysis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4F122C8-4623-E3A0-E210-88293B7D8C60}"/>
              </a:ext>
            </a:extLst>
          </p:cNvPr>
          <p:cNvSpPr/>
          <p:nvPr/>
        </p:nvSpPr>
        <p:spPr>
          <a:xfrm>
            <a:off x="5496037" y="223497"/>
            <a:ext cx="1663022" cy="145290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Invoice by Account Exec</a:t>
            </a:r>
            <a:endParaRPr lang="en-IN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AA00A74-68AF-762B-A8DB-4A24E3AB780D}"/>
              </a:ext>
            </a:extLst>
          </p:cNvPr>
          <p:cNvSpPr/>
          <p:nvPr/>
        </p:nvSpPr>
        <p:spPr>
          <a:xfrm>
            <a:off x="3564889" y="1752089"/>
            <a:ext cx="1570535" cy="145290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 Meeting 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E320739-744B-7E23-5F78-435B8E6F1853}"/>
              </a:ext>
            </a:extLst>
          </p:cNvPr>
          <p:cNvSpPr/>
          <p:nvPr/>
        </p:nvSpPr>
        <p:spPr>
          <a:xfrm>
            <a:off x="5358719" y="2260272"/>
            <a:ext cx="1883228" cy="181473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KPI’s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54D6D11-BCE8-124F-B4D3-40F667D86202}"/>
              </a:ext>
            </a:extLst>
          </p:cNvPr>
          <p:cNvSpPr/>
          <p:nvPr/>
        </p:nvSpPr>
        <p:spPr>
          <a:xfrm>
            <a:off x="4168686" y="4168302"/>
            <a:ext cx="1718785" cy="154862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Open Opportunity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F123D8C2-8C85-7E4D-D3BF-37144F5D5402}"/>
              </a:ext>
            </a:extLst>
          </p:cNvPr>
          <p:cNvSpPr/>
          <p:nvPr/>
        </p:nvSpPr>
        <p:spPr>
          <a:xfrm>
            <a:off x="7331500" y="1639213"/>
            <a:ext cx="1603442" cy="145290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E031213-7F4D-161E-CDE1-CA48EE13FC75}"/>
              </a:ext>
            </a:extLst>
          </p:cNvPr>
          <p:cNvSpPr/>
          <p:nvPr/>
        </p:nvSpPr>
        <p:spPr>
          <a:xfrm>
            <a:off x="7159059" y="4264024"/>
            <a:ext cx="1582170" cy="145290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meeting By Account Exec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9694D7EE-2BAB-0E4C-B729-605E75585143}"/>
              </a:ext>
            </a:extLst>
          </p:cNvPr>
          <p:cNvSpPr/>
          <p:nvPr/>
        </p:nvSpPr>
        <p:spPr>
          <a:xfrm>
            <a:off x="9903893" y="1751154"/>
            <a:ext cx="1148228" cy="10929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D8A8D5C9-9303-DCCD-135B-5ACC3DB290AE}"/>
              </a:ext>
            </a:extLst>
          </p:cNvPr>
          <p:cNvSpPr/>
          <p:nvPr/>
        </p:nvSpPr>
        <p:spPr>
          <a:xfrm>
            <a:off x="9571764" y="2907420"/>
            <a:ext cx="1413208" cy="126088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A06FD4EB-665E-E7D6-1C02-5C48114CC140}"/>
              </a:ext>
            </a:extLst>
          </p:cNvPr>
          <p:cNvSpPr/>
          <p:nvPr/>
        </p:nvSpPr>
        <p:spPr>
          <a:xfrm>
            <a:off x="9328617" y="658159"/>
            <a:ext cx="1101600" cy="10929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Sell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847E26C-ED0D-27BD-A72A-992FDB1150D4}"/>
                  </a:ext>
                </a:extLst>
              </p14:cNvPr>
              <p14:cNvContentPartPr/>
              <p14:nvPr/>
            </p14:nvContentPartPr>
            <p14:xfrm>
              <a:off x="5061823" y="3480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847E26C-ED0D-27BD-A72A-992FDB1150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5703" y="3418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0" name="Picture Placeholder 42" descr="Back with solid fill">
            <a:extLst>
              <a:ext uri="{FF2B5EF4-FFF2-40B4-BE49-F238E27FC236}">
                <a16:creationId xmlns:a16="http://schemas.microsoft.com/office/drawing/2014/main" id="{1A5789F0-EEBB-EAA5-E1A9-D2E4EDB6C0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855957" y="1087352"/>
            <a:ext cx="640080" cy="640080"/>
          </a:xfrm>
          <a:prstGeom prst="rect">
            <a:avLst/>
          </a:prstGeom>
        </p:spPr>
      </p:pic>
      <p:pic>
        <p:nvPicPr>
          <p:cNvPr id="51" name="Picture Placeholder 42" descr="Back with solid fill">
            <a:extLst>
              <a:ext uri="{FF2B5EF4-FFF2-40B4-BE49-F238E27FC236}">
                <a16:creationId xmlns:a16="http://schemas.microsoft.com/office/drawing/2014/main" id="{C3B5BF6B-43B3-A74A-5C21-DD3F54CBA9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3465397">
            <a:off x="7345555" y="999133"/>
            <a:ext cx="640080" cy="640080"/>
          </a:xfrm>
          <a:prstGeom prst="rect">
            <a:avLst/>
          </a:prstGeom>
        </p:spPr>
      </p:pic>
      <p:pic>
        <p:nvPicPr>
          <p:cNvPr id="52" name="Picture Placeholder 42" descr="Back with solid fill">
            <a:extLst>
              <a:ext uri="{FF2B5EF4-FFF2-40B4-BE49-F238E27FC236}">
                <a16:creationId xmlns:a16="http://schemas.microsoft.com/office/drawing/2014/main" id="{6AA4A24E-0965-B695-A823-D5068B926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7668414">
            <a:off x="7913654" y="3445845"/>
            <a:ext cx="640080" cy="640080"/>
          </a:xfrm>
          <a:prstGeom prst="rect">
            <a:avLst/>
          </a:prstGeom>
        </p:spPr>
      </p:pic>
      <p:pic>
        <p:nvPicPr>
          <p:cNvPr id="53" name="Picture Placeholder 42" descr="Back with solid fill">
            <a:extLst>
              <a:ext uri="{FF2B5EF4-FFF2-40B4-BE49-F238E27FC236}">
                <a16:creationId xmlns:a16="http://schemas.microsoft.com/office/drawing/2014/main" id="{C3BA3C00-1374-C033-A825-64A33E133E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11262943">
            <a:off x="6203225" y="5012649"/>
            <a:ext cx="640080" cy="640080"/>
          </a:xfrm>
          <a:prstGeom prst="rect">
            <a:avLst/>
          </a:prstGeom>
        </p:spPr>
      </p:pic>
      <p:pic>
        <p:nvPicPr>
          <p:cNvPr id="55" name="Picture Placeholder 42" descr="Back with solid fill">
            <a:extLst>
              <a:ext uri="{FF2B5EF4-FFF2-40B4-BE49-F238E27FC236}">
                <a16:creationId xmlns:a16="http://schemas.microsoft.com/office/drawing/2014/main" id="{0442D335-496B-4760-42F4-F57F93CC0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16541430">
            <a:off x="4198843" y="3488214"/>
            <a:ext cx="640080" cy="640080"/>
          </a:xfrm>
          <a:prstGeom prst="rect">
            <a:avLst/>
          </a:prstGeom>
        </p:spPr>
      </p:pic>
      <p:pic>
        <p:nvPicPr>
          <p:cNvPr id="57" name="Picture Placeholder 42" descr="Back with solid fill">
            <a:extLst>
              <a:ext uri="{FF2B5EF4-FFF2-40B4-BE49-F238E27FC236}">
                <a16:creationId xmlns:a16="http://schemas.microsoft.com/office/drawing/2014/main" id="{6E7028DC-24C0-054E-FB0E-3F9FF6B323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789452" y="1431114"/>
            <a:ext cx="640080" cy="640080"/>
          </a:xfrm>
          <a:prstGeom prst="rect">
            <a:avLst/>
          </a:prstGeom>
        </p:spPr>
      </p:pic>
      <p:pic>
        <p:nvPicPr>
          <p:cNvPr id="58" name="Picture Placeholder 42" descr="Back with solid fill">
            <a:extLst>
              <a:ext uri="{FF2B5EF4-FFF2-40B4-BE49-F238E27FC236}">
                <a16:creationId xmlns:a16="http://schemas.microsoft.com/office/drawing/2014/main" id="{668E65AC-23F6-45F2-0CDD-A40781C26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1116620">
            <a:off x="9047292" y="1964220"/>
            <a:ext cx="640080" cy="640080"/>
          </a:xfrm>
          <a:prstGeom prst="rect">
            <a:avLst/>
          </a:prstGeom>
        </p:spPr>
      </p:pic>
      <p:pic>
        <p:nvPicPr>
          <p:cNvPr id="59" name="Picture Placeholder 42" descr="Back with solid fill">
            <a:extLst>
              <a:ext uri="{FF2B5EF4-FFF2-40B4-BE49-F238E27FC236}">
                <a16:creationId xmlns:a16="http://schemas.microsoft.com/office/drawing/2014/main" id="{BD85C206-A04A-016C-B31F-46578A1EA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2305445">
            <a:off x="8838196" y="2660135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A33DC5-E182-1310-1B82-E890F4C7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"/>
            <a:ext cx="10805660" cy="702342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KPI’s</a:t>
            </a:r>
            <a:endParaRPr lang="en-IN" sz="4000" dirty="0"/>
          </a:p>
        </p:txBody>
      </p:sp>
      <p:graphicFrame>
        <p:nvGraphicFramePr>
          <p:cNvPr id="15" name="Picture Placeholder 14">
            <a:extLst>
              <a:ext uri="{FF2B5EF4-FFF2-40B4-BE49-F238E27FC236}">
                <a16:creationId xmlns:a16="http://schemas.microsoft.com/office/drawing/2014/main" id="{C9E8E0E1-2C39-4C6B-8D56-F3C18B33D571}"/>
              </a:ext>
            </a:extLst>
          </p:cNvPr>
          <p:cNvGraphicFramePr>
            <a:graphicFrameLocks noGrp="1"/>
          </p:cNvGraphicFramePr>
          <p:nvPr>
            <p:ph type="pic" idx="15"/>
            <p:extLst>
              <p:ext uri="{D42A27DB-BD31-4B8C-83A1-F6EECF244321}">
                <p14:modId xmlns:p14="http://schemas.microsoft.com/office/powerpoint/2010/main" val="507704442"/>
              </p:ext>
            </p:extLst>
          </p:nvPr>
        </p:nvGraphicFramePr>
        <p:xfrm>
          <a:off x="665161" y="702343"/>
          <a:ext cx="3351668" cy="1689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Picture Placeholder 16">
            <a:extLst>
              <a:ext uri="{FF2B5EF4-FFF2-40B4-BE49-F238E27FC236}">
                <a16:creationId xmlns:a16="http://schemas.microsoft.com/office/drawing/2014/main" id="{A8894262-0D37-4C39-B890-183CBE9F38FB}"/>
              </a:ext>
            </a:extLst>
          </p:cNvPr>
          <p:cNvGraphicFramePr>
            <a:graphicFrameLocks noGrp="1"/>
          </p:cNvGraphicFramePr>
          <p:nvPr>
            <p:ph type="pic" idx="21"/>
            <p:extLst>
              <p:ext uri="{D42A27DB-BD31-4B8C-83A1-F6EECF244321}">
                <p14:modId xmlns:p14="http://schemas.microsoft.com/office/powerpoint/2010/main" val="24964352"/>
              </p:ext>
            </p:extLst>
          </p:nvPr>
        </p:nvGraphicFramePr>
        <p:xfrm>
          <a:off x="4395045" y="702343"/>
          <a:ext cx="3043446" cy="1689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icture Placeholder 17">
            <a:extLst>
              <a:ext uri="{FF2B5EF4-FFF2-40B4-BE49-F238E27FC236}">
                <a16:creationId xmlns:a16="http://schemas.microsoft.com/office/drawing/2014/main" id="{D9E4D04B-BFA2-48E5-AB6E-97B6DE17757F}"/>
              </a:ext>
            </a:extLst>
          </p:cNvPr>
          <p:cNvGraphicFramePr>
            <a:graphicFrameLocks noGrp="1"/>
          </p:cNvGraphicFramePr>
          <p:nvPr>
            <p:ph type="pic" idx="22"/>
            <p:extLst>
              <p:ext uri="{D42A27DB-BD31-4B8C-83A1-F6EECF244321}">
                <p14:modId xmlns:p14="http://schemas.microsoft.com/office/powerpoint/2010/main" val="488014693"/>
              </p:ext>
            </p:extLst>
          </p:nvPr>
        </p:nvGraphicFramePr>
        <p:xfrm>
          <a:off x="7796957" y="702343"/>
          <a:ext cx="3654814" cy="1689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440A0-6851-62A7-2511-D93BDB96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170DAEE1-7964-4D85-B095-6B2F2742E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631021"/>
              </p:ext>
            </p:extLst>
          </p:nvPr>
        </p:nvGraphicFramePr>
        <p:xfrm>
          <a:off x="646111" y="2525488"/>
          <a:ext cx="3390468" cy="194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F5510B4B-EB67-43A0-A441-F1CBF74B68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362820"/>
              </p:ext>
            </p:extLst>
          </p:nvPr>
        </p:nvGraphicFramePr>
        <p:xfrm>
          <a:off x="4395044" y="2525485"/>
          <a:ext cx="3043446" cy="1940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33" name="Chart 32">
                <a:extLst>
                  <a:ext uri="{FF2B5EF4-FFF2-40B4-BE49-F238E27FC236}">
                    <a16:creationId xmlns:a16="http://schemas.microsoft.com/office/drawing/2014/main" id="{F1441EC9-1FF0-4BDD-859C-188E19A8E4C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94046215"/>
                  </p:ext>
                </p:extLst>
              </p:nvPr>
            </p:nvGraphicFramePr>
            <p:xfrm>
              <a:off x="7796957" y="2525486"/>
              <a:ext cx="3654814" cy="194052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33" name="Chart 32">
                <a:extLst>
                  <a:ext uri="{FF2B5EF4-FFF2-40B4-BE49-F238E27FC236}">
                    <a16:creationId xmlns:a16="http://schemas.microsoft.com/office/drawing/2014/main" id="{F1441EC9-1FF0-4BDD-859C-188E19A8E4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6957" y="2525486"/>
                <a:ext cx="3654814" cy="194052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D33058CC-72A1-48BC-B673-2774F49FC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9732995"/>
              </p:ext>
            </p:extLst>
          </p:nvPr>
        </p:nvGraphicFramePr>
        <p:xfrm>
          <a:off x="5758543" y="4599500"/>
          <a:ext cx="5671508" cy="1997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553D6468-16FC-41CF-B72F-9EF2077633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2906262"/>
              </p:ext>
            </p:extLst>
          </p:nvPr>
        </p:nvGraphicFramePr>
        <p:xfrm>
          <a:off x="761949" y="4599500"/>
          <a:ext cx="4570517" cy="1997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91942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10827432" cy="7620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C41C90-FA6D-EEF2-C0FC-BED0E5651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943" y="653143"/>
            <a:ext cx="10232796" cy="6008914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7F9DE-790E-73FB-5997-D2866752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4037D-4CE3-17DC-7A2A-64E8120A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10838318" cy="65314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74DA14-2734-CC55-9A28-F603FD1B3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1" y="653143"/>
            <a:ext cx="10548258" cy="5998028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3EF4-F2BA-51B5-5F90-7D19CABA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10751232" cy="76768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FA7973-3CD3-91CA-2615-712EB2AD8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685801"/>
            <a:ext cx="10580688" cy="5965372"/>
          </a:xfrm>
        </p:spPr>
      </p:pic>
    </p:spTree>
    <p:extLst>
      <p:ext uri="{BB962C8B-B14F-4D97-AF65-F5344CB8AC3E}">
        <p14:creationId xmlns:p14="http://schemas.microsoft.com/office/powerpoint/2010/main" val="148511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57E8-C7C3-1BAD-14C4-DF59E0A2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10838318" cy="740229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Queries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4ED64E-1109-A24C-DB60-8FC329B65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9" y="748791"/>
            <a:ext cx="4093029" cy="1306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7C012C-F71F-3DD0-020F-07233EC99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091" y="748791"/>
            <a:ext cx="3118173" cy="1456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A2678E-768F-DC2C-D214-3F1FD21B1C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8" y="2261278"/>
            <a:ext cx="4093029" cy="14619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A358F70-2060-6AA5-56DA-E31CBC4E6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091" y="2534877"/>
            <a:ext cx="2264229" cy="9162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05679B-CC96-5035-C9DA-13E99DC31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247" y="740229"/>
            <a:ext cx="3783147" cy="28098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5A32A30-B786-DB2A-8043-094DE49414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744" y="3646149"/>
            <a:ext cx="2808514" cy="916260"/>
          </a:xfrm>
          <a:prstGeom prst="rect">
            <a:avLst/>
          </a:prstGeom>
        </p:spPr>
      </p:pic>
      <p:pic>
        <p:nvPicPr>
          <p:cNvPr id="33" name="Content Placeholder 9">
            <a:extLst>
              <a:ext uri="{FF2B5EF4-FFF2-40B4-BE49-F238E27FC236}">
                <a16:creationId xmlns:a16="http://schemas.microsoft.com/office/drawing/2014/main" id="{7D075D7E-9C73-E264-8CF8-912ED4573B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38" y="3929388"/>
            <a:ext cx="4135970" cy="231829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626E46B-61D3-CD96-0420-FEEDB29F92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091" y="4565361"/>
            <a:ext cx="2786561" cy="84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4282-5E87-7F94-CF1B-D93EFC76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-10223"/>
            <a:ext cx="10783889" cy="767687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Queries</a:t>
            </a:r>
            <a:endParaRPr lang="en-IN" sz="4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960B-0817-63A1-2CA2-CFA03480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13</a:t>
            </a:fld>
            <a:endParaRPr lang="en-US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D0409-0993-90BD-2F32-9B0D42202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679572"/>
            <a:ext cx="5188631" cy="2881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09135-176D-9900-052D-E7A0099BE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56" y="999745"/>
            <a:ext cx="3222171" cy="10344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18419E-79F8-AFD2-722A-D4581158CE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97" y="3677182"/>
            <a:ext cx="5218246" cy="2867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0F0B8A-3B94-DDF9-5AAD-6AEE74F3F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48" y="3786916"/>
            <a:ext cx="2122284" cy="10344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D7BAF0-5C31-5005-B492-59669C061F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48" y="4907643"/>
            <a:ext cx="3115100" cy="16546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0DDA40-D21F-9582-473B-7CA1347156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853" y="3786916"/>
            <a:ext cx="2231571" cy="27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5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5CB85-A73D-2DF6-D6A0-C7303141C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87086"/>
            <a:ext cx="8813074" cy="642257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AC9C05-6D61-BD2D-DA8B-A9E6D45F8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1349829"/>
            <a:ext cx="8976360" cy="3722914"/>
          </a:xfrm>
        </p:spPr>
        <p:txBody>
          <a:bodyPr>
            <a:no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Renewal Policies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top performer with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profitability and growth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strong customer retention.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Cross-Sell Policies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margins with consistent growth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a key revenue driver.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Policies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stable returns but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growth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need for stronger acquisition strategies.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Focus: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renewals and cross-selling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improving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 acquisition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sustainable growth.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1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FB9B8E7C-89AA-560C-2DED-2663BDFA6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62200" y="1310727"/>
            <a:ext cx="740228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Maximize Renewals: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proactive renewal reminders and personalized engagement to sustain high profitability.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Accelerate Cross-Selling: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insights to deliver targeted offers and increase wallet share.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 New Policy Growth: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data-driven segmentation and focused marketing to improve acquisition.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Experience: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AI-enabled support for faster service and higher satisfaction.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Operations: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Upskill teams and leverage automation to improve efficiency and reduce costs.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02FC-1940-72AB-8671-0839E2CF0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C47-3017-DA16-F8BF-CBFF553CB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55629" y="4669970"/>
            <a:ext cx="2144486" cy="202474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”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DC5F5A50-7C36-8538-21D7-4AA8F1117311}"/>
              </a:ext>
            </a:extLst>
          </p:cNvPr>
          <p:cNvSpPr txBox="1">
            <a:spLocks/>
          </p:cNvSpPr>
          <p:nvPr/>
        </p:nvSpPr>
        <p:spPr>
          <a:xfrm>
            <a:off x="646111" y="163286"/>
            <a:ext cx="10827432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677886"/>
            <a:ext cx="4221470" cy="93399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AutoShape 12" descr="What is business analytics? Using data to improve business ...">
            <a:extLst>
              <a:ext uri="{FF2B5EF4-FFF2-40B4-BE49-F238E27FC236}">
                <a16:creationId xmlns:a16="http://schemas.microsoft.com/office/drawing/2014/main" id="{FCE4E3D0-2641-4951-206F-773F52FCA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90" name="Picture 18" descr="5,200+ Data Analyst Stock Photos, Pictures &amp; Royalty-Free ...">
            <a:extLst>
              <a:ext uri="{FF2B5EF4-FFF2-40B4-BE49-F238E27FC236}">
                <a16:creationId xmlns:a16="http://schemas.microsoft.com/office/drawing/2014/main" id="{69A2A40E-B1AB-E3C7-B3F9-261853CE7EE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5" r="2102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2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F4E2A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590</TotalTime>
  <Words>519</Words>
  <Application>Microsoft Office PowerPoint</Application>
  <PresentationFormat>Widescreen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Karla</vt:lpstr>
      <vt:lpstr>Times New Roman</vt:lpstr>
      <vt:lpstr>Wingdings</vt:lpstr>
      <vt:lpstr>Wingdings 3</vt:lpstr>
      <vt:lpstr>Ion</vt:lpstr>
      <vt:lpstr>INSURANCE ANALYTICS Project- P1075</vt:lpstr>
      <vt:lpstr>PowerPoint Presentation</vt:lpstr>
      <vt:lpstr>Weekly Performance Review – Ahmedabad Branch </vt:lpstr>
      <vt:lpstr>AGENDA</vt:lpstr>
      <vt:lpstr>INTRODUCTION </vt:lpstr>
      <vt:lpstr>DATASET DESCRIPTION</vt:lpstr>
      <vt:lpstr>KPI Analysis</vt:lpstr>
      <vt:lpstr>KPI’s</vt:lpstr>
      <vt:lpstr>Excel Dashboard</vt:lpstr>
      <vt:lpstr>Power BI Dashboard</vt:lpstr>
      <vt:lpstr>Tableau Dashboard</vt:lpstr>
      <vt:lpstr>MySQL Queries</vt:lpstr>
      <vt:lpstr>MySQL Queries</vt:lpstr>
      <vt:lpstr>Conclusion</vt:lpstr>
      <vt:lpstr>Maximize Renewals: Strengthen proactive renewal reminders and personalized engagement to sustain high profitability.  Accelerate Cross-Selling: Use customer insights to deliver targeted offers and increase wallet share.  Boost New Policy Growth: Apply data-driven segmentation and focused marketing to improve acquisition.  Enhance Customer Experience: Implement AI-enabled support for faster service and higher satisfaction.  Optimize Operations: Upskill teams and leverage automation to improve efficiency and reduce costs.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Kudthe</dc:creator>
  <cp:lastModifiedBy>Bhavani Kudthe</cp:lastModifiedBy>
  <cp:revision>43</cp:revision>
  <dcterms:created xsi:type="dcterms:W3CDTF">2025-12-11T08:18:38Z</dcterms:created>
  <dcterms:modified xsi:type="dcterms:W3CDTF">2025-12-15T11:20:14Z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